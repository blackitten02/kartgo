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Barcode System (sec)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 items</c:v>
                </c:pt>
                <c:pt idx="1">
                  <c:v>20 items</c:v>
                </c:pt>
                <c:pt idx="2">
                  <c:v>30 items</c:v>
                </c:pt>
                <c:pt idx="3">
                  <c:v>50 items</c:v>
                </c:pt>
                <c:pt idx="4">
                  <c:v>70 items</c:v>
                </c:pt>
                <c:pt idx="5">
                  <c:v>100 items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2326.5</c:v>
                </c:pt>
                <c:pt idx="1">
                  <c:v>2763</c:v>
                </c:pt>
                <c:pt idx="2">
                  <c:v>3199.5</c:v>
                </c:pt>
                <c:pt idx="3">
                  <c:v>4072.5</c:v>
                </c:pt>
                <c:pt idx="4">
                  <c:v>4945.5</c:v>
                </c:pt>
                <c:pt idx="5">
                  <c:v>6255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58-4CCB-84F2-583E1E853A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Smart Cart System (sec)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 items</c:v>
                </c:pt>
                <c:pt idx="1">
                  <c:v>20 items</c:v>
                </c:pt>
                <c:pt idx="2">
                  <c:v>30 items</c:v>
                </c:pt>
                <c:pt idx="3">
                  <c:v>50 items</c:v>
                </c:pt>
                <c:pt idx="4">
                  <c:v>70 items</c:v>
                </c:pt>
                <c:pt idx="5">
                  <c:v>100 items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2025</c:v>
                </c:pt>
                <c:pt idx="1">
                  <c:v>2160</c:v>
                </c:pt>
                <c:pt idx="2">
                  <c:v>2295</c:v>
                </c:pt>
                <c:pt idx="3">
                  <c:v>2565</c:v>
                </c:pt>
                <c:pt idx="4">
                  <c:v>2835</c:v>
                </c:pt>
                <c:pt idx="5">
                  <c:v>3240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58-4CCB-84F2-583E1E853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69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38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1028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715" y="0"/>
            <a:ext cx="2128535" cy="1006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88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28575">
              <a:spcBef>
                <a:spcPts val="79"/>
              </a:spcBef>
            </a:pPr>
            <a:fld id="{81D60167-4931-47E6-BA6A-407CBD079E47}" type="slidenum">
              <a:rPr lang="en-IN" spc="-38" smtClean="0"/>
              <a:pPr marL="28575">
                <a:spcBef>
                  <a:spcPts val="79"/>
                </a:spcBef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11216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1452" y="2029614"/>
            <a:ext cx="4736306" cy="108427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443865" algn="ctr">
              <a:spcBef>
                <a:spcPts val="75"/>
              </a:spcBef>
            </a:pPr>
            <a:r>
              <a:rPr sz="3200" dirty="0">
                <a:solidFill>
                  <a:srgbClr val="0066A1"/>
                </a:solidFill>
                <a:latin typeface="Verdana"/>
                <a:cs typeface="Verdana"/>
              </a:rPr>
              <a:t>Seminar</a:t>
            </a:r>
            <a:r>
              <a:rPr sz="3200" spc="-105" dirty="0">
                <a:solidFill>
                  <a:srgbClr val="0066A1"/>
                </a:solidFill>
                <a:latin typeface="Verdana"/>
                <a:cs typeface="Verdana"/>
              </a:rPr>
              <a:t> </a:t>
            </a:r>
            <a:r>
              <a:rPr sz="3200" spc="-19" dirty="0">
                <a:solidFill>
                  <a:srgbClr val="0066A1"/>
                </a:solidFill>
                <a:latin typeface="Verdana"/>
                <a:cs typeface="Verdana"/>
              </a:rPr>
              <a:t>On</a:t>
            </a:r>
            <a:endParaRPr sz="3200" dirty="0">
              <a:latin typeface="Verdana"/>
              <a:cs typeface="Verdana"/>
            </a:endParaRPr>
          </a:p>
          <a:p>
            <a:pPr algn="ctr">
              <a:spcBef>
                <a:spcPts val="720"/>
              </a:spcBef>
            </a:pPr>
            <a:r>
              <a:rPr lang="en-US" sz="3200" dirty="0">
                <a:latin typeface="Verdana"/>
                <a:cs typeface="Verdana"/>
              </a:rPr>
              <a:t>Smart Shopping Carts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6850" y="4830114"/>
            <a:ext cx="82867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spc="-38" dirty="0">
                <a:solidFill>
                  <a:srgbClr val="888888"/>
                </a:solidFill>
                <a:latin typeface="Verdana"/>
                <a:cs typeface="Verdana"/>
              </a:rPr>
              <a:t>1</a:t>
            </a:r>
            <a:endParaRPr sz="788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366" y="4830114"/>
            <a:ext cx="618173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spc="-8" dirty="0">
                <a:solidFill>
                  <a:srgbClr val="888888"/>
                </a:solidFill>
                <a:latin typeface="Verdana"/>
                <a:cs typeface="Verdana"/>
              </a:rPr>
              <a:t>10/15/2023</a:t>
            </a:r>
            <a:endParaRPr sz="788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6850" y="4185401"/>
            <a:ext cx="2631281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00" b="1" dirty="0">
                <a:solidFill>
                  <a:srgbClr val="0066A1"/>
                </a:solidFill>
                <a:latin typeface="Times New Roman"/>
                <a:cs typeface="Times New Roman"/>
              </a:rPr>
              <a:t>Guided</a:t>
            </a:r>
            <a:r>
              <a:rPr sz="1200" b="1" spc="-34" dirty="0">
                <a:solidFill>
                  <a:srgbClr val="0066A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66A1"/>
                </a:solidFill>
                <a:latin typeface="Times New Roman"/>
                <a:cs typeface="Times New Roman"/>
              </a:rPr>
              <a:t>By</a:t>
            </a:r>
            <a:r>
              <a:rPr sz="1200" b="1" spc="-26" dirty="0">
                <a:solidFill>
                  <a:srgbClr val="0066A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66A1"/>
                </a:solidFill>
                <a:latin typeface="Times New Roman"/>
                <a:cs typeface="Times New Roman"/>
              </a:rPr>
              <a:t>&lt;Prof.</a:t>
            </a:r>
            <a:r>
              <a:rPr sz="1200" b="1" spc="-30" dirty="0">
                <a:solidFill>
                  <a:srgbClr val="0066A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66A1"/>
                </a:solidFill>
                <a:latin typeface="Times New Roman"/>
                <a:cs typeface="Times New Roman"/>
              </a:rPr>
              <a:t>(</a:t>
            </a:r>
            <a:r>
              <a:rPr sz="1200" b="1" dirty="0" err="1">
                <a:solidFill>
                  <a:srgbClr val="0066A1"/>
                </a:solidFill>
                <a:latin typeface="Times New Roman"/>
                <a:cs typeface="Times New Roman"/>
              </a:rPr>
              <a:t>Mr</a:t>
            </a:r>
            <a:r>
              <a:rPr lang="en-US" sz="1200" b="1" dirty="0">
                <a:solidFill>
                  <a:srgbClr val="0066A1"/>
                </a:solidFill>
                <a:latin typeface="Times New Roman"/>
                <a:cs typeface="Times New Roman"/>
              </a:rPr>
              <a:t>) Prem Agrawal</a:t>
            </a:r>
            <a:r>
              <a:rPr sz="1200" b="1" spc="-8" dirty="0">
                <a:solidFill>
                  <a:srgbClr val="0066A1"/>
                </a:solidFill>
                <a:latin typeface="Times New Roman"/>
                <a:cs typeface="Times New Roman"/>
              </a:rPr>
              <a:t>&gt;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5549" y="202413"/>
            <a:ext cx="3732371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223361">
              <a:spcBef>
                <a:spcPts val="75"/>
              </a:spcBef>
            </a:pP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Shri</a:t>
            </a:r>
            <a:r>
              <a:rPr sz="1500" spc="-34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Guru</a:t>
            </a:r>
            <a:r>
              <a:rPr sz="1500" spc="-34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Gobind</a:t>
            </a:r>
            <a:r>
              <a:rPr sz="1500" spc="-34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Singhji</a:t>
            </a:r>
            <a:r>
              <a:rPr sz="1500" spc="-34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spc="-8" dirty="0">
                <a:solidFill>
                  <a:srgbClr val="F1F1F1"/>
                </a:solidFill>
                <a:latin typeface="Verdana"/>
                <a:cs typeface="Verdana"/>
              </a:rPr>
              <a:t>Institute</a:t>
            </a:r>
            <a:r>
              <a:rPr sz="1500" spc="375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of</a:t>
            </a:r>
            <a:r>
              <a:rPr sz="1500" spc="-30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Engineering</a:t>
            </a:r>
            <a:r>
              <a:rPr sz="1500" spc="-19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1F1F1"/>
                </a:solidFill>
                <a:latin typeface="Verdana"/>
                <a:cs typeface="Verdana"/>
              </a:rPr>
              <a:t>and</a:t>
            </a:r>
            <a:r>
              <a:rPr sz="1500" spc="-19" dirty="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sz="1500" spc="-23" dirty="0">
                <a:solidFill>
                  <a:srgbClr val="F1F1F1"/>
                </a:solidFill>
                <a:latin typeface="Verdana"/>
                <a:cs typeface="Verdana"/>
              </a:rPr>
              <a:t>Technology,Nanded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Shopping Cart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RFID Technology to Eliminate Checkout Queues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E0EF"/>
                </a:solidFill>
              </a:rPr>
              <a:t>Martinus · Metta Saridewi · Yudi · Hanry Ham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0E0EF"/>
                </a:solidFill>
              </a:rPr>
              <a:t>Bina Nusantara University, Jakarta, Indonesia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4114800"/>
            <a:ext cx="36576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Procedia Computer Science 179 (2021)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👥  3–10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customers always in queue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⏱️  5–25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checkout time per customer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832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🛒  ~50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average customers observed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914400"/>
            <a:ext cx="45720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Survey of 104 People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</a:rPr>
              <a:t>76.2%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06440" y="1545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said quantity of items causes long queues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</a:rPr>
              <a:t>66.3%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06440" y="23225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said slow barcode scanning is the issue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</a:rPr>
              <a:t>81.2%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06440" y="30998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agreed long queues must be fixed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</a:rPr>
              <a:t>48%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806440" y="3877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wait 10–20 minutes at checkout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Solution: Smart Shopping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🛒 Smart Cart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Arduino Uno + RFID RC522 reader + ESP8266 WiFi module. Customers tap items to scan them automatically while shopping.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10058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📱 Customer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55848" y="17830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Built with Flutter on Android. Shows real-time item list, running total, and generates a 4-digit OTP for checkout.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0058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💻 Cashier App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0216" y="17830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Web app built with Node.js. Cashier enters OTP to pull up pre-scanned list. Only handles payment — no scanning needed.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Tech Stack: Arduino · RFID · Flutter · PostgreSQL · REST · React · Node.js · ESP8266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463040"/>
            <a:ext cx="54864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32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Book Your Cart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opens the app and scans the QR code on the cart to link their phone to that specific cart.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348" y="2267712"/>
            <a:ext cx="54864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Scan While Shopping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taps each RFID-tagged product against the cart's reader. The item is added to the list instantly.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" y="3072384"/>
            <a:ext cx="54864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App Tracks Everything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163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phone app shows every scanned item and running total price in real time via WiFi.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" y="3877056"/>
            <a:ext cx="54864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Press Checkout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2102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presses Checkout on the app. A 4-digit One-Time Password (OTP) appears on the screen.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Cashier Only Does Payment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42569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Cashier types OTP → entire list appears → customer pays. No scanning at all at the counter.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Inside the Cart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Arduino Uno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6984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69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 Brain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Processes all inputs and controls the RFID reader and WiFi module. Runs custom C code programmed via Arduino IDE.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RC522 RFID Reader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95160" y="106984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069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Scanner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Reads passive RFID tags using 13.56 MHz frequency. Uses SPI protocol (MISO, MOSI, SCK) to communicate with Arduino.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ESP8266Mod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239572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WiFi Sender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Sends scanned item data to the server via the supermarket's WiFi network. Communicates with Arduino via serial pins.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Passive RFID Tags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95160" y="239572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Labels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Stickers on every product. No battery needed — powered by the reader's electromagnetic field. Cheap and reliable.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1188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LED Indicators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60320" y="372160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721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Green LED = item scanned successfully. White LED = scan failed, try again. Simple and intuitive for customers.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QR Code on Cart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95160" y="3721608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721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Cart 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Each cart has a unique QR code. Customers scan it with the app to link their phone session to that specific cart.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Results: Time Saved Per 10-Customer Queue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Time Saved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852160" y="1417320"/>
            <a:ext cx="29260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5 min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85216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saved with 10 items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514600"/>
            <a:ext cx="29260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25 min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85216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saved with 50 items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3611880"/>
            <a:ext cx="29260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50 min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85216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saved with 100 items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60720" y="4389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Efficiency grows proportionally with number of items &amp;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vs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Old Barcode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Cashier scans every item one by 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Wet/damaged barcodes cause delays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Hard-to-find barcodes slow things down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449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5–25 minutes per customer at checkout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Queues of 3–10 people constantly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05079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Cashier handles scanning + payment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Smart RFID System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361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Customer self-scans while shopping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03911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RFID works regardless of moisture/damage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5420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Instant tap-to-scan, always reliable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04495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Checkout = only payment (fast!)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54787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Queues dramatically reduced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40507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Cashier handles payment only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914400"/>
            <a:ext cx="54864" cy="3931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3088" y="265176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Development for Smart Grocery Tracker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502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Overview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8013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the app does and who it's for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1480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502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1490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Architecture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40680" y="18013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Frontend, Backend, Database structure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11480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77440"/>
            <a:ext cx="502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774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450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Screens &amp; Features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27614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Live Cart, Smart List, Analytics, Suggestions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411480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77440"/>
            <a:ext cx="502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2450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Development Workflow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40680" y="27614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Waterfall methodology &amp; tech stack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85953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37560"/>
            <a:ext cx="502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375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3410712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Enhancements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3721608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RFID integration, price comparison, store APIs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1965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Checkout Lines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" y="25146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 5–15 minutes at traditional POS counters, leading to cart abandonment.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18688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2801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8416" y="1965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Bottlenecks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28416" y="25146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 depend entirely on cashier availability — peak hours cause major delays.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71616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2801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1344" y="1965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Solution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81344" y="25146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retail stores lack a seamless mobile checkout experience for shoppers on the go.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SkipQ?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SkipQ is a mobile-first retail self-checkout application that empowers customers to scan products, manage their cart, and complete checkout — all from their smartphone. A dedicated cashier panel handles payment finalization via QR handoff, bridging the physical and digital experience.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943600" y="1005840"/>
            <a:ext cx="27432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194560"/>
            <a:ext cx="27432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35040" y="26700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383280"/>
            <a:ext cx="27432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504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full-stack project with a mobile-first UI, RESTful APIs, JWT-based auth, and a real-time cashier payment panel.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1612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" y="15270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product barcodes with the phone camera to instantly add items to cart.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8211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3258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03904" y="11612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803904" y="15270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update quantities — dynamic cart with real-time price calculation.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1675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3258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38544" y="11612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Checkout Handoff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638544" y="15270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QR code to hand off the cart to the cashier panel for payment.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47472" y="274320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017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9264" y="28529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Payment Panel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69264" y="32186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interface for cashiers to scan QR codes and finalize transactions.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82112" y="274320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0175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03904" y="28529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803904" y="32186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token-based auth for both customers and cashier accounts.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16752" y="274320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0175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38544" y="28529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Backend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638544" y="32186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relational database storing users, products, orders, and cart data.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1384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51560"/>
            <a:ext cx="1965960" cy="3520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19659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(Vite)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Router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472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Modules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8024" y="1051560"/>
            <a:ext cx="1965960" cy="3520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78024" y="1051560"/>
            <a:ext cx="196596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051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1664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7752" y="2852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34472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8576" y="1051560"/>
            <a:ext cx="1965960" cy="3520440"/>
          </a:xfrm>
          <a:prstGeom prst="rect">
            <a:avLst/>
          </a:prstGeom>
          <a:solidFill>
            <a:srgbClr val="0A2540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051560"/>
            <a:ext cx="196596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051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1664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Migrations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2852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pgAdmin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4472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Queries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39128" y="1051560"/>
            <a:ext cx="1965960" cy="3520440"/>
          </a:xfrm>
          <a:prstGeom prst="rect">
            <a:avLst/>
          </a:prstGeom>
          <a:solidFill>
            <a:srgbClr val="0A2540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39128" y="1051560"/>
            <a:ext cx="196596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051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1664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 + 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48856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Postman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48856" y="2852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 Code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48856" y="34472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npm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795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logs in via mobile app with JWT-secured credentials.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1795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161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673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barcode scan fetches product details from DB.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0515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1795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161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673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items; cart total calculated in real-time.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291693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898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QR Code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107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generates a unique QR code encoding the cart session 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91693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898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Scans QR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4107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panel scans QR and loads the customer's cart.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6752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91693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898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Done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4107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completes payment; order saved to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Learnings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657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5C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Challenges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 bug in users table during DB migration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 cart state across mobile &amp; cashier panel in real-time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8950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secure QR session token for checkout handoff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4787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concurrent cart updates without data conflicts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F0FFF4"/>
          </a:solidFill>
          <a:ln w="12700">
            <a:solidFill>
              <a:srgbClr val="B7EFC5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Learnings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57276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from DB schema to mobile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23113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 with JWT-secured endpoints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88950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layout with Vite + React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54787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 management and debugging in PostgreSQL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1134</Words>
  <Application>Microsoft Office PowerPoint</Application>
  <PresentationFormat>On-screen Show (16:9)</PresentationFormat>
  <Paragraphs>206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Arial Black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Shopping Cart - RFID System</dc:title>
  <dc:subject>PptxGenJS Presentation</dc:subject>
  <dc:creator>PptxGenJS</dc:creator>
  <cp:lastModifiedBy>Asus</cp:lastModifiedBy>
  <cp:revision>4</cp:revision>
  <dcterms:created xsi:type="dcterms:W3CDTF">2026-02-18T11:20:27Z</dcterms:created>
  <dcterms:modified xsi:type="dcterms:W3CDTF">2026-04-20T11:15:33Z</dcterms:modified>
</cp:coreProperties>
</file>